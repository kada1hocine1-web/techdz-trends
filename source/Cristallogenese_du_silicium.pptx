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4ebc51-d442-c97d-cc06-041060d0b461}">
          <p14:sldIdLst>
            <p14:sldId id="256"/>
            <p14:sldId id="257"/>
          </p14:sldIdLst>
        </p14:section>
        <p14:section name="Le matériau" id="{6981f820-61dd-9b99-6b83-f6b4595530bc}">
          <p14:sldIdLst>
            <p14:sldId id="258"/>
            <p14:sldId id="259"/>
          </p14:sldIdLst>
        </p14:section>
        <p14:section name="Purification" id="{1f2d4fea-fca9-615d-6c25-bc26d87c97cd}">
          <p14:sldIdLst>
            <p14:sldId id="260"/>
            <p14:sldId id="261"/>
            <p14:sldId id="262"/>
          </p14:sldIdLst>
        </p14:section>
        <p14:section name="Czochralski" id="{ab4f5524-b11f-edcf-2af3-932b072b524d}">
          <p14:sldIdLst>
            <p14:sldId id="263"/>
            <p14:sldId id="264"/>
            <p14:sldId id="265"/>
            <p14:sldId id="266"/>
          </p14:sldIdLst>
        </p14:section>
        <p14:section name="Fusion de zone" id="{4f4084e6-5335-57de-ba67-6343f0787754}">
          <p14:sldIdLst>
            <p14:sldId id="267"/>
            <p14:sldId id="268"/>
          </p14:sldIdLst>
        </p14:section>
        <p14:section name="Conclusion" id="{19fb2b03-d04c-e336-4455-8e0033431cef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Pureté maximale : nombre de « 9 » (N)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9</c:v>
                </c:pt>
              </c:strCache>
            </c:strRef>
          </c:tx>
          <c:spPr>
            <a:solidFill>
              <a:srgbClr val="2E6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 métallurgique</c:v>
                  </c:pt>
                  <c:pt idx="1">
                    <c:v>Si UMG</c:v>
                  </c:pt>
                  <c:pt idx="2">
                    <c:v>Solaire multi</c:v>
                  </c:pt>
                  <c:pt idx="3">
                    <c:v>Solaire mono</c:v>
                  </c:pt>
                  <c:pt idx="4">
                    <c:v>Électronique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C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Cs / C0 le long du lingot (loi de Scheil)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0,1 (Al dans Si)</c:v>
                </c:pt>
              </c:strCache>
            </c:strRef>
          </c:tx>
          <c:spPr>
            <a:solidFill>
              <a:srgbClr val="E8702A"/>
            </a:solidFill>
            <a:ln w="38100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0.1</c:v>
                </c:pt>
                <c:pt idx="1">
                  <c:v>0.105</c:v>
                </c:pt>
                <c:pt idx="2">
                  <c:v>0.11</c:v>
                </c:pt>
                <c:pt idx="3">
                  <c:v>0.116</c:v>
                </c:pt>
                <c:pt idx="4">
                  <c:v>0.122</c:v>
                </c:pt>
                <c:pt idx="5">
                  <c:v>0.13</c:v>
                </c:pt>
                <c:pt idx="6">
                  <c:v>0.138</c:v>
                </c:pt>
                <c:pt idx="7">
                  <c:v>0.147</c:v>
                </c:pt>
                <c:pt idx="8">
                  <c:v>0.158</c:v>
                </c:pt>
                <c:pt idx="9">
                  <c:v>0.171</c:v>
                </c:pt>
                <c:pt idx="10">
                  <c:v>0.187</c:v>
                </c:pt>
                <c:pt idx="11">
                  <c:v>0.205</c:v>
                </c:pt>
                <c:pt idx="12">
                  <c:v>0.228</c:v>
                </c:pt>
                <c:pt idx="13">
                  <c:v>0.257</c:v>
                </c:pt>
                <c:pt idx="14">
                  <c:v>0.296</c:v>
                </c:pt>
                <c:pt idx="15">
                  <c:v>0.348</c:v>
                </c:pt>
                <c:pt idx="16">
                  <c:v>0.426</c:v>
                </c:pt>
                <c:pt idx="17">
                  <c:v>0.551</c:v>
                </c:pt>
                <c:pt idx="18">
                  <c:v>0.794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0,5 (illustratif)</c:v>
                </c:pt>
              </c:strCache>
            </c:strRef>
          </c:tx>
          <c:spPr>
            <a:solidFill>
              <a:srgbClr val="2E6F8E"/>
            </a:solidFill>
            <a:ln w="38100" cap="flat">
              <a:solidFill>
                <a:srgbClr val="2E6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F8E"/>
              </a:solidFill>
              <a:ln w="9525" cap="flat">
                <a:solidFill>
                  <a:srgbClr val="2E6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0.5</c:v>
                </c:pt>
                <c:pt idx="1">
                  <c:v>0.513</c:v>
                </c:pt>
                <c:pt idx="2">
                  <c:v>0.527</c:v>
                </c:pt>
                <c:pt idx="3">
                  <c:v>0.542</c:v>
                </c:pt>
                <c:pt idx="4">
                  <c:v>0.559</c:v>
                </c:pt>
                <c:pt idx="5">
                  <c:v>0.577</c:v>
                </c:pt>
                <c:pt idx="6">
                  <c:v>0.598</c:v>
                </c:pt>
                <c:pt idx="7">
                  <c:v>0.62</c:v>
                </c:pt>
                <c:pt idx="8">
                  <c:v>0.645</c:v>
                </c:pt>
                <c:pt idx="9">
                  <c:v>0.674</c:v>
                </c:pt>
                <c:pt idx="10">
                  <c:v>0.707</c:v>
                </c:pt>
                <c:pt idx="11">
                  <c:v>0.745</c:v>
                </c:pt>
                <c:pt idx="12">
                  <c:v>0.791</c:v>
                </c:pt>
                <c:pt idx="13">
                  <c:v>0.845</c:v>
                </c:pt>
                <c:pt idx="14">
                  <c:v>0.913</c:v>
                </c:pt>
                <c:pt idx="15">
                  <c:v>1</c:v>
                </c:pt>
                <c:pt idx="16">
                  <c:v>1.118</c:v>
                </c:pt>
                <c:pt idx="17">
                  <c:v>1.291</c:v>
                </c:pt>
                <c:pt idx="18">
                  <c:v>1.581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D4C5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3D4C5C"/>
                    </a:solidFill>
                    <a:latin typeface="Arial"/>
                  </a:rPr>
                  <a:t>fraction solidifiée g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C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C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C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sujet : comment on fabrique, à partir de la silice, un cristal de silicium sans défaut, base de l'électronique et du photovoltaïque.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silicium cristallise comme le diamant. a = 5,43 Å à température ambiante. Il se dilate d'environ 10 % en se solidifiant, ce qui interdit de le solidifier simplement dans un moule si l'on veut un cristal sans contraintes.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9N = 99,9999999 %. Valeurs : Si métallurgique ≈ 98 % (≈ 2N) ; UMG jusqu'à 6N ; solaire multi 7N–8N ; solaire mono 9N–10N ; électronique 10N–11N (Bernreuter Research).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Usages FZ : composants de puissance et détecteurs, d'après la littérature générale ; la pureté et la haute résistivité sont citées par Wafer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Sous-titre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Texte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Titre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</a:rPr>
              <a:t>Cristallogenèse du silicium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Cristallogenèse du silicium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Du sable de quartz au monocristal parfait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Exposé — Kada Hocine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Master 2 Physique des matériaux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Encadré par : Dr Sehabi</a:t>
            </a:r>
            <a:endParaRPr lang="en-US" sz="1800" dirty="0"/>
          </a:p>
        </p:txBody>
      </p:sp>
      <p:pic>
        <p:nvPicPr>
          <p:cNvPr id="4" name="img-Monokristalines_Sili" descr="Lingot de silicium monocristallin obtenu par tirage Czochrals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9017" y="640080"/>
            <a:ext cx="1915886" cy="512064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877824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6B2"/>
                </a:solidFill>
              </a:rPr>
              <a:t>Lingot de Si monocristallin — Stahlkocher, GFDL, Wikimedia Commons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 de l'exposé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silicium, un cristal covalent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Structure diamant, propriétés utiles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17920" y="141732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Pourquoi un monocristal 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Défauts, pureté, dopage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97180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 quartz au polysilicium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Carbothermie, procédé Siemens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217920" y="297180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tirage Czochralski (Cz)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Principe, paramètres, ségrégation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452628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fusion de zone (FZ)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212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Méthode sans creuset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217920" y="452628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 lingot à la plaquette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212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Comparaison Cz / FZ,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silicium : un cristal covalent de structure diamant</a:t>
            </a:r>
            <a:endParaRPr lang="en-US" sz="3200" dirty="0"/>
          </a:p>
        </p:txBody>
      </p:sp>
      <p:pic>
        <p:nvPicPr>
          <p:cNvPr id="3" name="img-diamant_c.png" descr="Maille conventionnelle cubique de la structure diam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041" y="1280160"/>
            <a:ext cx="4630959" cy="4572000"/>
          </a:xfrm>
          <a:prstGeom prst="rect">
            <a:avLst/>
          </a:prstGeom>
        </p:spPr>
      </p:pic>
      <p:sp>
        <p:nvSpPr>
          <p:cNvPr id="4" name="credit"/>
          <p:cNvSpPr txBox="1"/>
          <p:nvPr/>
        </p:nvSpPr>
        <p:spPr>
          <a:xfrm>
            <a:off x="54864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Maille diamant (schéma réalisé pour l'exposé) : CFC + motif décalé de (¼,¼,¼)a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37160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Réseau : </a:t>
            </a:r>
            <a:r>
              <a:rPr lang="en-US" sz="1600" dirty="0">
                <a:solidFill>
                  <a:schemeClr val="tx1"/>
                </a:solidFill>
              </a:rPr>
              <a:t>cubique à faces centrées, motif de 2 atomes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Liaisons : </a:t>
            </a:r>
            <a:r>
              <a:rPr lang="en-US" sz="1600" dirty="0">
                <a:solidFill>
                  <a:schemeClr val="tx1"/>
                </a:solidFill>
              </a:rPr>
              <a:t>chaque atome a 4 voisins en tétraèdre (hybridation sp³)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 atomes </a:t>
            </a:r>
            <a:r>
              <a:rPr lang="en-US" sz="1600" dirty="0">
                <a:solidFill>
                  <a:schemeClr val="tx1"/>
                </a:solidFill>
              </a:rPr>
              <a:t>par maille conventionnelle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035040" y="37033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card"/>
          <p:cNvSpPr/>
          <p:nvPr/>
        </p:nvSpPr>
        <p:spPr>
          <a:xfrm>
            <a:off x="8961120" y="37033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6364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5,43 Å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46451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paramètre de maille a (Kittel)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1414 °C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46451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température de fusion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Pourquoi un monocristal ultra-pur ?</a:t>
            </a:r>
            <a:endParaRPr lang="en-US" sz="3200" dirty="0"/>
          </a:p>
        </p:txBody>
      </p:sp>
      <p:pic>
        <p:nvPicPr>
          <p:cNvPr id="3" name="img-Multicrystalline_sil" descr="Plaquette de silicium multicristallin montrant ses gra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3313"/>
            <a:ext cx="4206240" cy="2611374"/>
          </a:xfrm>
          <a:prstGeom prst="rect">
            <a:avLst/>
          </a:prstGeom>
        </p:spPr>
      </p:pic>
      <p:sp>
        <p:nvSpPr>
          <p:cNvPr id="4" name="credit"/>
          <p:cNvSpPr txBox="1"/>
          <p:nvPr/>
        </p:nvSpPr>
        <p:spPr>
          <a:xfrm>
            <a:off x="548640" y="478040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Plaquette multicristalline : on voit les grains — Radiotrefoil, CC BY-SA 4.0, Wikimedia Commons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32588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Joints de grains et dislocations </a:t>
            </a:r>
            <a:r>
              <a:rPr lang="en-US" sz="1600" dirty="0">
                <a:solidFill>
                  <a:schemeClr val="tx1"/>
                </a:solidFill>
              </a:rPr>
              <a:t>piègent les électrons et les trous : ils dégradent transistors et cellules.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 dopage contrôle la conduction : </a:t>
            </a:r>
            <a:r>
              <a:rPr lang="en-US" sz="1600" dirty="0">
                <a:solidFill>
                  <a:schemeClr val="tx1"/>
                </a:solidFill>
              </a:rPr>
              <a:t>il faut partir d'un cristal où rien d'autre n'est présent.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Exigence : </a:t>
            </a:r>
            <a:r>
              <a:rPr lang="en-US" sz="1600" dirty="0">
                <a:solidFill>
                  <a:schemeClr val="tx1"/>
                </a:solidFill>
              </a:rPr>
              <a:t>un réseau parfait sur tout un lingot de plusieurs dizaines de kilogrammes.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212080" y="4023360"/>
            <a:ext cx="3063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card"/>
          <p:cNvSpPr/>
          <p:nvPr/>
        </p:nvSpPr>
        <p:spPr>
          <a:xfrm>
            <a:off x="8549640" y="4023360"/>
            <a:ext cx="3063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40680" y="4114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10¹⁵–10¹⁹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49194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atomes dopants par cm³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4114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10¹²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49194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métaux contaminants par cm³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sable à la plaquette : la chaîne de fabrication</a:t>
            </a:r>
            <a:endParaRPr lang="en-US" sz="3200" dirty="0"/>
          </a:p>
        </p:txBody>
      </p:sp>
      <p:sp>
        <p:nvSpPr>
          <p:cNvPr id="3" name="etape0"/>
          <p:cNvSpPr/>
          <p:nvPr/>
        </p:nvSpPr>
        <p:spPr>
          <a:xfrm>
            <a:off x="548640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9AA6B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Quartz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SiO₂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2240280" y="2496312"/>
            <a:ext cx="201168" cy="128016"/>
          </a:xfrm>
          <a:prstGeom prst="triangle">
            <a:avLst/>
          </a:prstGeom>
          <a:solidFill>
            <a:srgbClr val="9AA6B2"/>
          </a:solidFill>
          <a:ln/>
        </p:spPr>
      </p:sp>
      <p:sp>
        <p:nvSpPr>
          <p:cNvPr id="6" name="etape1"/>
          <p:cNvSpPr/>
          <p:nvPr/>
        </p:nvSpPr>
        <p:spPr>
          <a:xfrm>
            <a:off x="2441448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5B6B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14600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 métallurgique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≈ 98 %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5400000">
            <a:off x="4133088" y="2496312"/>
            <a:ext cx="201168" cy="128016"/>
          </a:xfrm>
          <a:prstGeom prst="triangle">
            <a:avLst/>
          </a:prstGeom>
          <a:solidFill>
            <a:srgbClr val="9AA6B2"/>
          </a:solidFill>
          <a:ln/>
        </p:spPr>
      </p:sp>
      <p:sp>
        <p:nvSpPr>
          <p:cNvPr id="9" name="etape2"/>
          <p:cNvSpPr/>
          <p:nvPr/>
        </p:nvSpPr>
        <p:spPr>
          <a:xfrm>
            <a:off x="4334256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2E6F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07408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Trichlorosilane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SiHCl₃ distillé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5896" y="2496312"/>
            <a:ext cx="201168" cy="128016"/>
          </a:xfrm>
          <a:prstGeom prst="triangle">
            <a:avLst/>
          </a:prstGeom>
          <a:solidFill>
            <a:srgbClr val="9AA6B2"/>
          </a:solidFill>
          <a:ln/>
        </p:spPr>
      </p:sp>
      <p:sp>
        <p:nvSpPr>
          <p:cNvPr id="12" name="etape3"/>
          <p:cNvSpPr/>
          <p:nvPr/>
        </p:nvSpPr>
        <p:spPr>
          <a:xfrm>
            <a:off x="6227064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1B2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0216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Polysilicium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9N à 11N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918704" y="2496312"/>
            <a:ext cx="201168" cy="128016"/>
          </a:xfrm>
          <a:prstGeom prst="triangle">
            <a:avLst/>
          </a:prstGeom>
          <a:solidFill>
            <a:srgbClr val="9AA6B2"/>
          </a:solidFill>
          <a:ln/>
        </p:spPr>
      </p:sp>
      <p:sp>
        <p:nvSpPr>
          <p:cNvPr id="15" name="etape4"/>
          <p:cNvSpPr/>
          <p:nvPr/>
        </p:nvSpPr>
        <p:spPr>
          <a:xfrm>
            <a:off x="8119872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E870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93024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Monocristal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Cz ou FZ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811512" y="2496312"/>
            <a:ext cx="201168" cy="128016"/>
          </a:xfrm>
          <a:prstGeom prst="triangle">
            <a:avLst/>
          </a:prstGeom>
          <a:solidFill>
            <a:srgbClr val="9AA6B2"/>
          </a:solidFill>
          <a:ln/>
        </p:spPr>
      </p:sp>
      <p:sp>
        <p:nvSpPr>
          <p:cNvPr id="18" name="etape5"/>
          <p:cNvSpPr/>
          <p:nvPr/>
        </p:nvSpPr>
        <p:spPr>
          <a:xfrm>
            <a:off x="10012680" y="150876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F2B5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85832" y="1508760"/>
            <a:ext cx="1545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Plaquettes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découpe, polissage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49040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Réduction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34256" y="3749040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Purification chimique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Cristallogenèse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3749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Usinage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Cœur de l'exposé : </a:t>
            </a:r>
            <a:r>
              <a:rPr lang="en-US" sz="1800" dirty="0">
                <a:solidFill>
                  <a:schemeClr val="tx1"/>
                </a:solidFill>
              </a:rPr>
              <a:t>l'étape 5, où l'on transforme un polysilicium pur en un réseau cristallin unique et orienté.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Étape 1 : réduction carbothermique du quartz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Quartz (SiO₂) + carbone dans un four électrique à arc immergé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≈ 2000 °C dans la zone chaude, &gt; 1780 °C en bas du four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Produit : silicium métallurgique (MG-Si) pur à ≈ 98 %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6035040" y="1325880"/>
            <a:ext cx="5577840" cy="36576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5508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Réactions principales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21031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SiO₂ + 3 C → SiC + 2 CO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SiO₂ + 2 SiC → 3 Si + 2 CO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: SiO₂ + 2 C → Si + 2 CO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Le carbone réduit la silice ; le gaz CO s'échappe.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393192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98 % ne suffit pas : </a:t>
            </a:r>
            <a:r>
              <a:rPr lang="en-US" sz="1500" dirty="0">
                <a:solidFill>
                  <a:schemeClr val="tx1"/>
                </a:solidFill>
              </a:rPr>
              <a:t>il reste 2 % d'impuretés (Fe, Al, B, P…) — bien trop pour l'électronique.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Étape 2 : purification par le procédé Siemens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Chloration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556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 + 3 HCl → SiHCl₃ + H₂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Distillation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443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SiHCl₃ bout à 31,8 °C : séparé des impuretés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Dépôt (CVD)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330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SiHCl₃ + H₂ → Si + 3 HCl sur filaments à ≈ 1150 °C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On obtient des barreaux de polysilicium de 15 à 20 cm de diamètre.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23444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 tirage Czochralski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1916 — </a:t>
            </a:r>
            <a:r>
              <a:rPr lang="en-US" sz="1600" dirty="0">
                <a:solidFill>
                  <a:schemeClr val="bg2"/>
                </a:solidFill>
              </a:rPr>
              <a:t>Jan Czochralski, chez AEG à Berlin, tire des monocristaux d'étain, de zinc et de plomb depuis un bain fondu.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1948–1950 — </a:t>
            </a:r>
            <a:r>
              <a:rPr lang="en-US" sz="1600" dirty="0">
                <a:solidFill>
                  <a:schemeClr val="bg2"/>
                </a:solidFill>
              </a:rPr>
              <a:t>Gordon Teal (Bell Labs) applique la méthode au germanium, puis elle devient la base du silicium électronique.</a:t>
            </a:r>
            <a:endParaRPr lang="en-US" sz="1600" dirty="0"/>
          </a:p>
        </p:txBody>
      </p:sp>
      <p:pic>
        <p:nvPicPr>
          <p:cNvPr id="4" name="img-Monokristalines_Sili" descr="Lingot de silicium Czochrals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069" y="731520"/>
            <a:ext cx="1847461" cy="493776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8503920" y="5715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6B2"/>
                </a:solidFill>
              </a:rPr>
              <a:t>Stahlkocher, GFDL, Wikimedia Commons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Principe du tirage Czochralski (Cz)</a:t>
            </a:r>
            <a:endParaRPr lang="en-US" sz="3200" dirty="0"/>
          </a:p>
        </p:txBody>
      </p:sp>
      <p:pic>
        <p:nvPicPr>
          <p:cNvPr id="3" name="img-cz_schema.png" descr="Schéma d'un four de tirage Czochralsk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544" y="1188720"/>
            <a:ext cx="5052592" cy="4754880"/>
          </a:xfrm>
          <a:prstGeom prst="rect">
            <a:avLst/>
          </a:prstGeom>
        </p:spPr>
      </p:pic>
      <p:sp>
        <p:nvSpPr>
          <p:cNvPr id="4" name="credit"/>
          <p:cNvSpPr txBox="1"/>
          <p:nvPr/>
        </p:nvSpPr>
        <p:spPr>
          <a:xfrm>
            <a:off x="45720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Schéma de principe réalisé pour l'exposé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4008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280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Fusion : </a:t>
            </a:r>
            <a:r>
              <a:rPr lang="en-US" sz="1500" dirty="0">
                <a:solidFill>
                  <a:schemeClr val="tx1"/>
                </a:solidFill>
              </a:rPr>
              <a:t>du polysilicium dans un creuset de quartz, sous argon, au-dessus de 1414 °C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0" y="2267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2219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Contact : </a:t>
            </a:r>
            <a:r>
              <a:rPr lang="en-US" sz="1500" dirty="0">
                <a:solidFill>
                  <a:schemeClr val="tx1"/>
                </a:solidFill>
              </a:rPr>
              <a:t>d'un germe monocristallin orienté avec la surface du bain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316382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 (necking) : </a:t>
            </a:r>
            <a:r>
              <a:rPr lang="en-US" sz="1500" dirty="0">
                <a:solidFill>
                  <a:schemeClr val="tx1"/>
                </a:solidFill>
              </a:rPr>
              <a:t>tirage rapide et fin : les dislocations s'éliminent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0" y="4151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410565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Épaulement puis corps : </a:t>
            </a:r>
            <a:r>
              <a:rPr lang="en-US" sz="1500" dirty="0">
                <a:solidFill>
                  <a:schemeClr val="tx1"/>
                </a:solidFill>
              </a:rPr>
              <a:t>on élargit au diamètre voulu et on tire lentement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0" y="5093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50474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 conique : </a:t>
            </a:r>
            <a:r>
              <a:rPr lang="en-US" sz="1500" dirty="0">
                <a:solidFill>
                  <a:schemeClr val="tx1"/>
                </a:solidFill>
              </a:rPr>
              <a:t>on réduit le diamètre avant de quitter le bain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paramètres qui font un bon cristal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 mm/min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219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vitesse de tirage du corps du lingot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343400" y="13258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417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3–6 mm/min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2219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tirage du col, diamètre réduit à 2–5 mm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138160" y="1325880"/>
            <a:ext cx="3520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417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mm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219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diamètre produit en masse (450 mm démontré)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383280"/>
            <a:ext cx="5486400" cy="260604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Bilan thermique à l'interface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· ρ · L  =  K · dT/dx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 chaleur latente L libérée à la vitesse V doit être évacuée par conduction dans le solide (K : conductivité, dT/dx : gradient). Cela fixe la vitesse maximale.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474720"/>
            <a:ext cx="5257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Contre-rotation </a:t>
            </a:r>
            <a:r>
              <a:rPr lang="en-US" sz="1500" dirty="0">
                <a:solidFill>
                  <a:schemeClr val="tx1"/>
                </a:solidFill>
              </a:rPr>
              <a:t>du germe et du creuset : bain homogène, interface plane.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Argon </a:t>
            </a:r>
            <a:r>
              <a:rPr lang="en-US" sz="1500" dirty="0">
                <a:solidFill>
                  <a:schemeClr val="tx1"/>
                </a:solidFill>
              </a:rPr>
              <a:t>pour protéger le bain et évacuer SiO gazeux.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Asservissement </a:t>
            </a:r>
            <a:r>
              <a:rPr lang="en-US" sz="1500" dirty="0">
                <a:solidFill>
                  <a:schemeClr val="tx1"/>
                </a:solidFill>
              </a:rPr>
              <a:t>de la puissance pour garder le diamètre constant.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Ségrégation des dopants et contamination par l'oxygène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= k · C0 · (1 − g)^(k − 1),   avec k = Cs / Cl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Si k &lt; 1, l'impureté reste dans le liquide : le bas du lingot est plus dopé que la tête.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675120" y="1325880"/>
            <a:ext cx="4937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L'oxygène, impureté principale du Cz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01168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creuset de quartz (SiO₂) se dissout lentement dans le bain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Teneur typique : </a:t>
            </a:r>
            <a:r>
              <a:rPr lang="en-US" sz="1500" dirty="0">
                <a:solidFill>
                  <a:schemeClr val="tx1"/>
                </a:solidFill>
              </a:rPr>
              <a:t>6·10¹⁷ à 1,1·10¹⁸ atomes/cm³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Il précipite et favorise des défauts, mais renforce mécaniquement le cristal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Cz magnétique (MCZ) : </a:t>
            </a:r>
            <a:r>
              <a:rPr lang="en-US" sz="1500" dirty="0">
                <a:solidFill>
                  <a:schemeClr val="tx1"/>
                </a:solidFill>
              </a:rPr>
              <a:t>un champ B freine la convection (force de Laplace) et réduit l'oxygène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fusion de zone (Float Zone, FZ)</a:t>
            </a:r>
            <a:endParaRPr lang="en-US" sz="3200" dirty="0"/>
          </a:p>
        </p:txBody>
      </p:sp>
      <p:pic>
        <p:nvPicPr>
          <p:cNvPr id="3" name="img-fz_schema.png" descr="Schéma du procédé de fusion de z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87" y="1188720"/>
            <a:ext cx="3423346" cy="4754880"/>
          </a:xfrm>
          <a:prstGeom prst="rect">
            <a:avLst/>
          </a:prstGeom>
        </p:spPr>
      </p:pic>
      <p:sp>
        <p:nvSpPr>
          <p:cNvPr id="4" name="credit"/>
          <p:cNvSpPr txBox="1"/>
          <p:nvPr/>
        </p:nvSpPr>
        <p:spPr>
          <a:xfrm>
            <a:off x="45720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Schéma de principe réalisé pour l'exposé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32588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Principe : </a:t>
            </a:r>
            <a:r>
              <a:rPr lang="en-US" sz="1500" dirty="0">
                <a:solidFill>
                  <a:schemeClr val="tx1"/>
                </a:solidFill>
              </a:rPr>
              <a:t>une bobine à induction fond une zone étroite d'un barreau polycristallin vertical ; la zone monte, le monocristal se forme sous elle.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Aucun creuset : </a:t>
            </a:r>
            <a:r>
              <a:rPr lang="en-US" sz="1500" dirty="0">
                <a:solidFill>
                  <a:schemeClr val="tx1"/>
                </a:solidFill>
              </a:rPr>
              <a:t>la zone fondue ne touche que le gaz (vide ou gaz inerte).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Purification : </a:t>
            </a:r>
            <a:r>
              <a:rPr lang="en-US" sz="1500" dirty="0">
                <a:solidFill>
                  <a:schemeClr val="tx1"/>
                </a:solidFill>
              </a:rPr>
              <a:t>les impuretés sont entraînées par la zone liquide.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Développé en 1962 ; </a:t>
            </a:r>
            <a:r>
              <a:rPr lang="en-US" sz="1500" dirty="0">
                <a:solidFill>
                  <a:schemeClr val="tx1"/>
                </a:solidFill>
              </a:rPr>
              <a:t>diamètre limité à 200 mm.</a:t>
            </a:r>
            <a:endParaRPr lang="en-US" sz="1500" dirty="0"/>
          </a:p>
        </p:txBody>
      </p:sp>
      <p:pic>
        <p:nvPicPr>
          <p:cNvPr id="6" name="img-4_inch_float_zone_n-" descr="Plaquette de silicium FZ de 4 pou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557083"/>
            <a:ext cx="2560320" cy="2737993"/>
          </a:xfrm>
          <a:prstGeom prst="rect">
            <a:avLst/>
          </a:prstGeom>
        </p:spPr>
      </p:pic>
      <p:sp>
        <p:nvSpPr>
          <p:cNvPr id="7" name="credit"/>
          <p:cNvSpPr txBox="1"/>
          <p:nvPr/>
        </p:nvSpPr>
        <p:spPr>
          <a:xfrm>
            <a:off x="9052560" y="434079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Plaquette FZ 4 pouces — Radiotrefoil, CC BY-SA 4.0, Wikimedia Commons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9052560" y="48920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0" y="4937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&lt; 10¹⁶ O/cm³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dans un Si FZ de référence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Czochralski ou fusion de zone ?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Czochralski (Cz)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de zone (FZ)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Creuset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Quartz : contact avec le bain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Oxygène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10¹⁷–10¹⁸ cm⁻³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faible (&lt; 10¹⁶ cm⁻³)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Résistivité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élevée (cristal plus pur)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Diamètre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300 mm en masse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 à 200 mm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Circuits intégrés, cellules solaires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Électronique de puissance, détecteurs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retenir : </a:t>
            </a:r>
            <a:r>
              <a:rPr lang="en-US" sz="1600" dirty="0">
                <a:solidFill>
                  <a:schemeClr val="tx1"/>
                </a:solidFill>
              </a:rPr>
              <a:t>le Cz domine en volume grâce aux grands diamètres ; la FZ gagne là où la pureté prime.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lingot à la plaquette (wafer)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Rectification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19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mise au diamètre, repère d'orientation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Découpe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62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 tranches à la scie à fil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11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Rodage et gravure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élimination de la zone écrouie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754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Polissage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148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surface miroir, prête pour la lithographie</a:t>
            </a:r>
            <a:endParaRPr lang="en-US" sz="1400" dirty="0"/>
          </a:p>
        </p:txBody>
      </p:sp>
      <p:pic>
        <p:nvPicPr>
          <p:cNvPr id="19" name="img-12-inch_silicon_wafe" descr="Plaquette de silicium de 12 pou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80160"/>
            <a:ext cx="4480560" cy="4480560"/>
          </a:xfrm>
          <a:prstGeom prst="rect">
            <a:avLst/>
          </a:prstGeom>
        </p:spPr>
      </p:pic>
      <p:sp>
        <p:nvSpPr>
          <p:cNvPr id="20" name="credit"/>
          <p:cNvSpPr txBox="1"/>
          <p:nvPr/>
        </p:nvSpPr>
        <p:spPr>
          <a:xfrm>
            <a:off x="5577840" y="5806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</a:rPr>
              <a:t>Plaquette de 300 mm (12 pouces) — Peellden, CC BY-SA 3.0, Wikimedia Commons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Trois étapes transforment le sable en cristal parfait : réduction, purification chimique, cristallogenèse.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Le Czochralski fournit l'essentiel du silicium mondial ; la fusion de zone le plus pur.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Tout se joue à l'interface solide/liquide : thermique, vitesse et ségrégation.</a:t>
            </a:r>
            <a:endParaRPr lang="en-US" sz="1600" dirty="0"/>
          </a:p>
        </p:txBody>
      </p:sp>
      <p:pic>
        <p:nvPicPr>
          <p:cNvPr id="4" name="img-Silicon_wafer_resear" descr="Chercheuse tenant une plaquette de silici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98320"/>
            <a:ext cx="4480560" cy="298704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7132320" y="4831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6B2"/>
                </a:solidFill>
              </a:rPr>
              <a:t>U.S. Department of Energy, domaine public, Wikimedia Commons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Références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[1] Kittel C., </a:t>
            </a:r>
            <a:r>
              <a:rPr lang="en-US" sz="1300" i="1" dirty="0">
                <a:solidFill>
                  <a:schemeClr val="tx1"/>
                </a:solidFill>
              </a:rPr>
              <a:t>Introduction to Solid State Physics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8ᵉ éd., Wiley, 2005 (structure diamant, a = 5,43 Å).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[2] Ashcroft N. W., Mermin N. D., </a:t>
            </a:r>
            <a:r>
              <a:rPr lang="en-US" sz="1300" i="1" dirty="0">
                <a:solidFill>
                  <a:schemeClr val="tx1"/>
                </a:solidFill>
              </a:rPr>
              <a:t>Physique des solides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EDP Sciences, 2002 (classification des solides covalents).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[3] Válek L., Šik J., « Defect Engineering During Czochralski Crystal Growth and Silicon Wafer Manufacturing », </a:t>
            </a:r>
            <a:r>
              <a:rPr lang="en-US" sz="1300" i="1" dirty="0">
                <a:solidFill>
                  <a:schemeClr val="tx1"/>
                </a:solidFill>
              </a:rPr>
              <a:t>Modern Aspects of Bulk Crystal and Thin Film Preparation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InTech, 2012. cdn.intechopen.com/pdfs/26201.pdf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[4] Stamenov P., </a:t>
            </a:r>
            <a:r>
              <a:rPr lang="en-US" sz="1300" i="1" dirty="0">
                <a:solidFill>
                  <a:schemeClr val="tx1"/>
                </a:solidFill>
              </a:rPr>
              <a:t>Czochralski &amp; Float-Zone growth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cours PY2N20, Trinity College Dublin, 2014. maths.tcd.ie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[5] PV Manufacturing (UNSW), « Polysilicon production ». </a:t>
            </a:r>
            <a:r>
              <a:rPr lang="en-US" sz="1300" i="1" dirty="0">
                <a:solidFill>
                  <a:schemeClr val="tx1"/>
                </a:solidFill>
              </a:rPr>
              <a:t>pv-manufacturing.org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[6] Bernreuter Research, « Polysilicon production processes ». </a:t>
            </a:r>
            <a:r>
              <a:rPr lang="en-US" sz="1300" i="1" dirty="0">
                <a:solidFill>
                  <a:schemeClr val="tx1"/>
                </a:solidFill>
              </a:rPr>
              <a:t>bernreuter.com/polysilicon/production-processes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[7] IEEE/ETHW, « Milestones: Czochralski Process, 1916 ». </a:t>
            </a:r>
            <a:r>
              <a:rPr lang="en-US" sz="1300" i="1" dirty="0">
                <a:solidFill>
                  <a:schemeClr val="tx1"/>
                </a:solidFill>
              </a:rPr>
              <a:t>ethw.org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[8] Wafer World, « Float Zone Wafer: The Float Zone Process ». </a:t>
            </a:r>
            <a:r>
              <a:rPr lang="en-US" sz="1300" i="1" dirty="0">
                <a:solidFill>
                  <a:schemeClr val="tx1"/>
                </a:solidFill>
              </a:rPr>
              <a:t>waferworld.com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7863840" y="123444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92440" y="137160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Crédits des images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Wikimedia Commons, licences libres 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Lingot Cz — Stahlkocher, GFDL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Plaquette multicristalline — Radiotrefoil, CC BY-SA 4.0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Plaquette FZ 4″ — Radiotrefoil, CC BY-SA 4.0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Plaquette 300 mm — Peellden, CC BY-SA 3.0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Chercheuse et plaquette — U.S. DOE, domaine public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4846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Schémas (maille diamant, Cz, FZ) et graphiques : réalisés pour cet exposé.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ium">
  <a:themeElements>
    <a:clrScheme name="Silicium">
      <a:dk1>
        <a:srgbClr val="1B2A3A"/>
      </a:dk1>
      <a:lt1>
        <a:srgbClr val="FFFFFF"/>
      </a:lt1>
      <a:dk2>
        <a:srgbClr val="3D4C5C"/>
      </a:dk2>
      <a:lt2>
        <a:srgbClr val="EEF2F5"/>
      </a:lt2>
      <a:accent1>
        <a:srgbClr val="E8702A"/>
      </a:accent1>
      <a:accent2>
        <a:srgbClr val="5B6B7C"/>
      </a:accent2>
      <a:accent3>
        <a:srgbClr val="F2B544"/>
      </a:accent3>
      <a:accent4>
        <a:srgbClr val="2E6F8E"/>
      </a:accent4>
      <a:accent5>
        <a:srgbClr val="9AA6B2"/>
      </a:accent5>
      <a:accent6>
        <a:srgbClr val="B8442A"/>
      </a:accent6>
      <a:hlink>
        <a:srgbClr val="2E6F8E"/>
      </a:hlink>
      <a:folHlink>
        <a:srgbClr val="5B6B7C"/>
      </a:folHlink>
    </a:clrScheme>
    <a:fontScheme name="Silic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Cristallogenèse du silicium</dc:title>
  <dc:subject>PptxGenJS Presentation</dc:subject>
  <dc:creator>Kada Hocine</dc:creator>
  <cp:lastModifiedBy>Kada Hocine</cp:lastModifiedBy>
  <cp:revision>1</cp:revision>
  <dcterms:created xsi:type="dcterms:W3CDTF">2026-10-28T16:53:33Z</dcterms:created>
  <dcterms:modified xsi:type="dcterms:W3CDTF">2026-10-28T16:53:33Z</dcterms:modified>
</cp:coreProperties>
</file>